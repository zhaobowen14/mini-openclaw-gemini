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 Market</c:v>
                </c:pt>
              </c:strCache>
            </c:strRef>
          </c:tx>
          <c:spPr>
            <a:solidFill>
              <a:srgbClr val="00529B"/>
            </a:solidFill>
            <a:ln>
              <a:solidFill>
                <a:srgbClr val="00529B"/>
              </a:solidFill>
            </a:ln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2025(E)</c:v>
                </c:pt>
                <c:pt idx="3">
                  <c:v>2026(E)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102</c:v>
                </c:pt>
                <c:pt idx="2">
                  <c:v>103</c:v>
                </c:pt>
                <c:pt idx="3">
                  <c:v>104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DX Market</c:v>
                </c:pt>
              </c:strCache>
            </c:strRef>
          </c:tx>
          <c:spPr>
            <a:solidFill>
              <a:srgbClr val="0072C6"/>
            </a:solidFill>
            <a:ln>
              <a:solidFill>
                <a:srgbClr val="0072C6"/>
              </a:solidFill>
            </a:ln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2025(E)</c:v>
                </c:pt>
                <c:pt idx="3">
                  <c:v>2026(E)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55</c:v>
                </c:pt>
                <c:pt idx="3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メイリオ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00529B"/>
              </a:solidFill>
            </c:spPr>
          </c:dPt>
          <c:dPt>
            <c:idx val="1"/>
            <c:spPr>
              <a:solidFill>
                <a:srgbClr val="0072C6"/>
              </a:solidFill>
            </c:spPr>
          </c:dPt>
          <c:dPt>
            <c:idx val="2"/>
            <c:spPr>
              <a:solidFill>
                <a:srgbClr val="418FDE"/>
              </a:solidFill>
            </c:spPr>
          </c:dPt>
          <c:dPt>
            <c:idx val="3"/>
            <c:spPr>
              <a:solidFill>
                <a:srgbClr val="82B4E6"/>
              </a:solidFill>
            </c:spPr>
          </c:dPt>
          <c:cat>
            <c:strRef>
              <c:f>Sheet1!$A$2:$A$5</c:f>
              <c:strCache>
                <c:ptCount val="4"/>
                <c:pt idx="0">
                  <c:v>当社</c:v>
                </c:pt>
                <c:pt idx="1">
                  <c:v>A社</c:v>
                </c:pt>
                <c:pt idx="2">
                  <c:v>B社</c:v>
                </c:pt>
                <c:pt idx="3">
                  <c:v>その他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latin typeface="メイリオ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Cloud</c:v>
                </c:pt>
              </c:strCache>
            </c:strRef>
          </c:tx>
          <c:spPr>
            <a:solidFill>
              <a:srgbClr val="00529B"/>
            </a:solidFill>
            <a:ln>
              <a:solidFill>
                <a:srgbClr val="00529B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25</c:v>
                </c:pt>
                <c:pt idx="2">
                  <c:v>32</c:v>
                </c:pt>
                <c:pt idx="3">
                  <c:v>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Consulting</c:v>
                </c:pt>
              </c:strCache>
            </c:strRef>
          </c:tx>
          <c:spPr>
            <a:solidFill>
              <a:srgbClr val="0072C6"/>
            </a:solidFill>
            <a:ln>
              <a:solidFill>
                <a:srgbClr val="0072C6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16</c:v>
                </c:pt>
                <c:pt idx="2">
                  <c:v>16</c:v>
                </c:pt>
                <c:pt idx="3">
                  <c:v>18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メイリオ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7772400" y="3657600"/>
            <a:ext cx="1371600" cy="1371600"/>
          </a:xfrm>
          <a:prstGeom prst="rtTriangle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9B"/>
                </a:solidFill>
                <a:latin typeface="メイリオ"/>
              </a:defRPr>
            </a:pPr>
            <a:r>
              <a:t>2025年度 中期経営計画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2C6"/>
                </a:solidFill>
                <a:latin typeface="Segoe UI"/>
              </a:defRPr>
            </a:pPr>
            <a:r>
              <a:t>Sustainable Growth &amp;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メイリオ"/>
              </a:defRPr>
            </a:pPr>
            <a:r>
              <a:t>2024.11.25 | 株式会社未来イノベーション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  <a:latin typeface="メイリオ"/>
              </a:defRPr>
            </a:pPr>
            <a: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buChar char="•"/>
              <a:spcAft>
                <a:spcPts val="1400"/>
              </a:spcAft>
              <a:defRPr sz="1600">
                <a:solidFill>
                  <a:srgbClr val="333333"/>
                </a:solidFill>
                <a:latin typeface="メイリオ"/>
              </a:defRPr>
            </a:pPr>
            <a:r>
              <a:t>市場環境分析と成長予測 (Market)</a:t>
            </a:r>
          </a:p>
          <a:p>
            <a:pPr marL="457200" indent="-228600">
              <a:buChar char="•"/>
              <a:spcAft>
                <a:spcPts val="1400"/>
              </a:spcAft>
              <a:defRPr sz="1600">
                <a:solidFill>
                  <a:srgbClr val="333333"/>
                </a:solidFill>
                <a:latin typeface="メイリオ"/>
              </a:defRPr>
            </a:pPr>
            <a:r>
              <a:t>2024年度 業績ハイライト (Review)</a:t>
            </a:r>
          </a:p>
          <a:p>
            <a:pPr marL="457200" indent="-228600">
              <a:buChar char="•"/>
              <a:spcAft>
                <a:spcPts val="1400"/>
              </a:spcAft>
              <a:defRPr sz="1600">
                <a:solidFill>
                  <a:srgbClr val="333333"/>
                </a:solidFill>
                <a:latin typeface="メイリオ"/>
              </a:defRPr>
            </a:pPr>
            <a:r>
              <a:t>2025年度 戦略フレームワーク (Strategy)</a:t>
            </a:r>
          </a:p>
          <a:p>
            <a:pPr marL="457200" indent="-228600">
              <a:buChar char="•"/>
              <a:spcAft>
                <a:spcPts val="1400"/>
              </a:spcAft>
              <a:defRPr sz="1600">
                <a:solidFill>
                  <a:srgbClr val="333333"/>
                </a:solidFill>
                <a:latin typeface="メイリオ"/>
              </a:defRPr>
            </a:pPr>
            <a:r>
              <a:t>デジタル変革と新サービス (DX)</a:t>
            </a:r>
          </a:p>
          <a:p>
            <a:pPr marL="457200" indent="-228600">
              <a:buChar char="•"/>
              <a:spcAft>
                <a:spcPts val="1400"/>
              </a:spcAft>
              <a:defRPr sz="1600">
                <a:solidFill>
                  <a:srgbClr val="333333"/>
                </a:solidFill>
                <a:latin typeface="メイリオ"/>
              </a:defRPr>
            </a:pPr>
            <a:r>
              <a:t>投資計画とリソース配分 (Resource)</a:t>
            </a:r>
          </a:p>
          <a:p>
            <a:pPr marL="457200" indent="-228600">
              <a:buChar char="•"/>
              <a:spcAft>
                <a:spcPts val="1400"/>
              </a:spcAft>
              <a:defRPr sz="1600">
                <a:solidFill>
                  <a:srgbClr val="333333"/>
                </a:solidFill>
                <a:latin typeface="メイリオ"/>
              </a:defRPr>
            </a:pPr>
            <a:r>
              <a:t>今後の展望と結論 (Conclusion)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  <a:latin typeface="メイリオ"/>
              </a:defRPr>
            </a:pPr>
            <a:r>
              <a:t>Market Trends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80160"/>
          <a:ext cx="50292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0" y="12801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DX市場は年率30%以上の高成長を維持</a:t>
            </a:r>
          </a:p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既存IT市場は横ばい傾向が続く</a:t>
            </a:r>
          </a:p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2025年が市場構造の転換点となる予測</a:t>
            </a:r>
          </a:p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AI/クラウド領域への投資が急増中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Current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  <a:latin typeface="メイリオ"/>
              </a:defRPr>
            </a:pPr>
            <a:r>
              <a:t>Market Share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国内市場においてシェア35%で首位を維持</a:t>
            </a:r>
          </a:p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2位A社との差は10ポイントに拡大</a:t>
            </a:r>
          </a:p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「その他」に含まれる新興ベンチャーの台頭に注意</a:t>
            </a:r>
          </a:p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来期目標はシェア40%の獲得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840480" y="1280160"/>
          <a:ext cx="48463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  <a:latin typeface="メイリオ"/>
              </a:defRPr>
            </a:pPr>
            <a:r>
              <a:t>FY2024 Review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120%</a:t>
                      </a:r>
                    </a:p>
                  </a:txBody>
                  <a:tcPr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Clients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550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110%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Churn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1.8%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0" y="12801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利益面では目標を大きく超過達成 (120%)</a:t>
            </a:r>
          </a:p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高収益なクラウドサービスの比率が向上</a:t>
            </a:r>
          </a:p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売上高は一部案件の期ズレにより未達</a:t>
            </a:r>
          </a:p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顧客基盤は順調に拡大中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Growth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  <a:latin typeface="メイリオ"/>
              </a:defRPr>
            </a:pPr>
            <a:r>
              <a:t>Sales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クラウド事業を成長ドライバーと位置付け</a:t>
            </a:r>
          </a:p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コンサルティングは高付加価値化へシフト</a:t>
            </a:r>
          </a:p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Q4に向けて新製品投入による加速を計画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840480" y="1280160"/>
          <a:ext cx="48463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Core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  <a:latin typeface="メイリオ"/>
              </a:defRPr>
            </a:pPr>
            <a:r>
              <a:t>New Solution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8404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84048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  <a:latin typeface="メイリオ"/>
              </a:defRPr>
            </a:pPr>
            <a:r>
              <a:t>All-in-One</a:t>
            </a:r>
            <a:br/>
            <a:r>
              <a:t>業務アプリを単一基盤に統合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280160"/>
            <a:ext cx="38404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280160"/>
            <a:ext cx="384048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55448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  <a:latin typeface="メイリオ"/>
              </a:defRPr>
            </a:pPr>
            <a:r>
              <a:t>AI Native</a:t>
            </a:r>
            <a:br/>
            <a:r>
              <a:t>生成AIによる自動化を標準装備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38404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384048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  <a:latin typeface="メイリオ"/>
              </a:defRPr>
            </a:pPr>
            <a:r>
              <a:t>Security</a:t>
            </a:r>
            <a:br/>
            <a:r>
              <a:t>金融機関レベルの堅牢性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108960"/>
            <a:ext cx="38404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3108960"/>
            <a:ext cx="384048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38328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  <a:latin typeface="メイリオ"/>
              </a:defRPr>
            </a:pPr>
            <a:r>
              <a:t>UX/UI</a:t>
            </a:r>
            <a:br/>
            <a:r>
              <a:t>学習コストゼロのデザイン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  <a:latin typeface="メイリオ"/>
              </a:defRPr>
            </a:pPr>
            <a:r>
              <a:t>Future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2025年: 国内シェアNo.1を獲得</a:t>
            </a:r>
          </a:p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2026年: アジア主要都市へ拠点展開</a:t>
            </a:r>
          </a:p>
          <a:p>
            <a:pPr marL="457200" indent="-228600">
              <a:buChar char="•"/>
              <a:spcAft>
                <a:spcPts val="1000"/>
              </a:spcAft>
              <a:defRPr sz="1300">
                <a:solidFill>
                  <a:srgbClr val="333333"/>
                </a:solidFill>
                <a:latin typeface="メイリオ"/>
              </a:defRPr>
            </a:pPr>
            <a:r>
              <a:t>2027年: グローバルプラットフォームへ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280160"/>
            <a:ext cx="3931920" cy="3200400"/>
          </a:xfrm>
          <a:prstGeom prst="rect">
            <a:avLst/>
          </a:prstGeom>
          <a:noFill/>
          <a:ln>
            <a:solidFill>
              <a:srgbClr val="C8DC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6517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Image Area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  <a:latin typeface="メイリオ"/>
              </a:defRPr>
            </a:pPr>
            <a:r>
              <a:t>サービスの特長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1371600"/>
            <a:ext cx="1280160" cy="1280160"/>
          </a:xfrm>
          <a:prstGeom prst="ellipse">
            <a:avLst/>
          </a:prstGeom>
          <a:noFill/>
          <a:ln w="254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78508"/>
            <a:ext cx="1280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600" b="1">
                <a:solidFill>
                  <a:srgbClr val="00529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高速処理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メイリオ"/>
              </a:defRPr>
            </a:pPr>
            <a:r>
              <a:t>AI技術により従来の10倍の処理速度を実現</a:t>
            </a:r>
          </a:p>
        </p:txBody>
      </p:sp>
      <p:sp>
        <p:nvSpPr>
          <p:cNvPr id="10" name="Oval 9"/>
          <p:cNvSpPr/>
          <p:nvPr/>
        </p:nvSpPr>
        <p:spPr>
          <a:xfrm>
            <a:off x="4297680" y="1371600"/>
            <a:ext cx="1280160" cy="1280160"/>
          </a:xfrm>
          <a:prstGeom prst="ellipse">
            <a:avLst/>
          </a:prstGeom>
          <a:noFill/>
          <a:ln w="254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778508"/>
            <a:ext cx="1280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600" b="1">
                <a:solidFill>
                  <a:srgbClr val="00529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安全性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1546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メイリオ"/>
              </a:defRPr>
            </a:pPr>
            <a:r>
              <a:t>金融機関レベルのセキュリティ対応</a:t>
            </a:r>
          </a:p>
        </p:txBody>
      </p:sp>
      <p:sp>
        <p:nvSpPr>
          <p:cNvPr id="14" name="Oval 13"/>
          <p:cNvSpPr/>
          <p:nvPr/>
        </p:nvSpPr>
        <p:spPr>
          <a:xfrm>
            <a:off x="7223760" y="1371600"/>
            <a:ext cx="1280160" cy="1280160"/>
          </a:xfrm>
          <a:prstGeom prst="ellipse">
            <a:avLst/>
          </a:prstGeom>
          <a:noFill/>
          <a:ln w="254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778508"/>
            <a:ext cx="1280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600" b="1">
                <a:solidFill>
                  <a:srgbClr val="00529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サポート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546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メイリオ"/>
              </a:defRPr>
            </a:pPr>
            <a:r>
              <a:t>24時間365日の専門サポート体制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  <a:latin typeface="メイリオ"/>
              </a:defRPr>
            </a:pPr>
            <a:r>
              <a:t>導入ステップ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メイリオ"/>
              </a:defRPr>
            </a:pPr>
            <a:r>
              <a:t>ヒアリング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メイリオ"/>
              </a:defRPr>
            </a:pPr>
            <a:r>
              <a:t>現状の課題と目標をヒアリングします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メイリオ"/>
              </a:defRPr>
            </a:pPr>
            <a:r>
              <a:t>提案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メイリオ"/>
              </a:defRPr>
            </a:pPr>
            <a:r>
              <a:t>最適なソリューションをご提案します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34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メイリオ"/>
              </a:defRPr>
            </a:pPr>
            <a:r>
              <a:t>導入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546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メイリオ"/>
              </a:defRPr>
            </a:pPr>
            <a:r>
              <a:t>最短2週間でサービス開始が可能です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118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メイリオ"/>
              </a:defRPr>
            </a:pPr>
            <a:r>
              <a:t>運用サポート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31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メイリオ"/>
              </a:defRPr>
            </a:pPr>
            <a:r>
              <a:t>導入後も継続的にサポートします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9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メイリオ"/>
              </a:defRPr>
            </a:pPr>
            <a:r>
              <a:t>実績と信頼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6012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メイリオ"/>
              </a:defRPr>
            </a:pPr>
            <a:r>
              <a:t>創業20年、累計1,000社以上の導入実績。業界トップクラスの顧客満足度を誇ります。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8412480" cy="914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9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メイリオ"/>
              </a:defRPr>
            </a:pPr>
            <a:r>
              <a:t>柔軟なカスタマイズ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1460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メイリオ"/>
              </a:defRPr>
            </a:pPr>
            <a:r>
              <a:t>お客様のニーズに合わせた柔軟なカスタマイズが可能。標準機能だけでなく独自要件にも対応します。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474720"/>
            <a:ext cx="8412480" cy="914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56616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9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メイリオ"/>
              </a:defRPr>
            </a:pPr>
            <a:r>
              <a:t>継続的な進化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06908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メイリオ"/>
              </a:defRPr>
            </a:pPr>
            <a:r>
              <a:t>毎月のアップデートで常に最新機能を提供。お客様のフィードバックを反映し続けます。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ロードマップ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2057400" cy="41148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1472184" y="1965960"/>
            <a:ext cx="27432" cy="50292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57300" y="1508760"/>
            <a:ext cx="457200" cy="457200"/>
          </a:xfrm>
          <a:prstGeom prst="ellipse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7300" y="1618488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960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メイリオ"/>
              </a:defRPr>
            </a:pPr>
            <a:r>
              <a:t>Phase 1: 基盤構築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メイリオ"/>
              </a:defRPr>
            </a:pPr>
            <a:r>
              <a:t>システム基盤の整備と初期導入を実施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2468880"/>
            <a:ext cx="2057400" cy="4114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46888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9584" y="2880360"/>
            <a:ext cx="27432" cy="5029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14700" y="3383280"/>
            <a:ext cx="457200" cy="457200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4700" y="3493008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8900" y="3977639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メイリオ"/>
              </a:defRPr>
            </a:pPr>
            <a:r>
              <a:t>Phase 2: 展開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90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メイリオ"/>
              </a:defRPr>
            </a:pPr>
            <a:r>
              <a:t>全社展開と機能拡張を推進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468880"/>
            <a:ext cx="2057400" cy="411480"/>
          </a:xfrm>
          <a:prstGeom prst="rect">
            <a:avLst/>
          </a:prstGeom>
          <a:solidFill>
            <a:srgbClr val="46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46888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86984" y="1965960"/>
            <a:ext cx="27432" cy="502920"/>
          </a:xfrm>
          <a:prstGeom prst="rect">
            <a:avLst/>
          </a:prstGeom>
          <a:solidFill>
            <a:srgbClr val="46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72100" y="1508760"/>
            <a:ext cx="457200" cy="457200"/>
          </a:xfrm>
          <a:prstGeom prst="ellipse">
            <a:avLst/>
          </a:prstGeom>
          <a:solidFill>
            <a:srgbClr val="46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2100" y="1618488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6300" y="960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メイリオ"/>
              </a:defRPr>
            </a:pPr>
            <a:r>
              <a:t>Phase 3: 最適化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630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メイリオ"/>
              </a:defRPr>
            </a:pPr>
            <a:r>
              <a:t>運用最適化とAI活用の本格化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2468880"/>
            <a:ext cx="2057400" cy="411480"/>
          </a:xfrm>
          <a:prstGeom prst="rect">
            <a:avLst/>
          </a:prstGeom>
          <a:solidFill>
            <a:srgbClr val="64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46888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2027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44384" y="2880360"/>
            <a:ext cx="27432" cy="502920"/>
          </a:xfrm>
          <a:prstGeom prst="rect">
            <a:avLst/>
          </a:prstGeom>
          <a:solidFill>
            <a:srgbClr val="64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29500" y="3383280"/>
            <a:ext cx="457200" cy="457200"/>
          </a:xfrm>
          <a:prstGeom prst="ellipse">
            <a:avLst/>
          </a:prstGeom>
          <a:solidFill>
            <a:srgbClr val="64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9500" y="3493008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3700" y="3977639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メイリオ"/>
              </a:defRPr>
            </a:pPr>
            <a:r>
              <a:t>Phase 4: 革新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370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メイリオ"/>
              </a:defRPr>
            </a:pPr>
            <a:r>
              <a:t>次世代プラットフォームへの進化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7772400" y="3657600"/>
            <a:ext cx="1371600" cy="1371600"/>
          </a:xfrm>
          <a:prstGeom prst="rtTriangle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9B"/>
                </a:solidFill>
                <a:latin typeface="メイリオ"/>
              </a:defRPr>
            </a:pPr>
            <a:r>
              <a:t>Next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2C6"/>
                </a:solidFill>
                <a:latin typeface="Segoe UI"/>
              </a:defRPr>
            </a:pPr>
            <a:r>
              <a:t>Vision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メイリオ"/>
              </a:defRPr>
            </a:pPr>
            <a:r>
              <a:t>株式会社未来イノベーション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